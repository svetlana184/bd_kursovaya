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1" r:id="rId3"/>
    <p:sldId id="273" r:id="rId4"/>
    <p:sldId id="274" r:id="rId5"/>
    <p:sldId id="263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FC73972-31C8-4AC5-A246-192A1E270646}" type="datetimeFigureOut">
              <a:rPr lang="ru-RU" smtClean="0"/>
              <a:t>06.10.2020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3715F0D-BC27-4FA4-8C0C-0076F340FF3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03648" y="2276872"/>
            <a:ext cx="7072362" cy="2251552"/>
          </a:xfrm>
        </p:spPr>
        <p:txBody>
          <a:bodyPr>
            <a:noAutofit/>
          </a:bodyPr>
          <a:lstStyle/>
          <a:p>
            <a:r>
              <a:rPr lang="ru-RU" sz="4400" dirty="0" smtClean="0">
                <a:effectLst/>
              </a:rPr>
              <a:t>Логическое проектирование. Физическая модель БД</a:t>
            </a:r>
            <a:endParaRPr lang="ru-RU" sz="4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856" y="836712"/>
            <a:ext cx="7829576" cy="129530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000" b="1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Логическое проектирование</a:t>
            </a:r>
            <a:endParaRPr lang="ru-RU" sz="4000" b="1" cap="none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30856" y="2314580"/>
            <a:ext cx="7829576" cy="19065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lvl="0" indent="0">
              <a:spcAft>
                <a:spcPts val="1800"/>
              </a:spcAft>
              <a:buNone/>
            </a:pPr>
            <a:r>
              <a:rPr lang="ru-RU" sz="2800" b="1" dirty="0" smtClean="0">
                <a:solidFill>
                  <a:srgbClr val="FF0000"/>
                </a:solidFill>
              </a:rPr>
              <a:t>Логическое проектирование БД </a:t>
            </a:r>
            <a:r>
              <a:rPr lang="ru-RU" sz="2800" dirty="0" smtClean="0"/>
              <a:t>– это создание структуры БД на основе конкретной модели представления данных (реляционной, сетевой, иерархической и т.д.)</a:t>
            </a:r>
            <a:endParaRPr lang="ru-RU" sz="2800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630856" y="4365104"/>
            <a:ext cx="7829576" cy="19065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800"/>
              </a:spcAft>
              <a:buFont typeface="Arial" pitchFamily="34" charset="0"/>
              <a:buNone/>
            </a:pPr>
            <a:r>
              <a:rPr lang="ru-RU" sz="2800" b="1" dirty="0" smtClean="0">
                <a:solidFill>
                  <a:srgbClr val="FF0000"/>
                </a:solidFill>
              </a:rPr>
              <a:t>Цель этапа логического проектирования БД </a:t>
            </a:r>
            <a:r>
              <a:rPr lang="ru-RU" sz="2800" dirty="0" smtClean="0"/>
              <a:t>– преобразование исходной концептуальной модели в модель данных, поддерживаемую конкретным типом СУБД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829576" cy="129530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000" b="1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Процедуры логического проектирования</a:t>
            </a:r>
            <a:endParaRPr lang="ru-RU" sz="4000" b="1" cap="none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02864" y="1844824"/>
            <a:ext cx="7829576" cy="460851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>
              <a:spcAft>
                <a:spcPts val="1800"/>
              </a:spcAft>
            </a:pPr>
            <a:r>
              <a:rPr lang="ru-RU" sz="2800" dirty="0" smtClean="0"/>
              <a:t>Выбор модели данных</a:t>
            </a:r>
          </a:p>
          <a:p>
            <a:pPr>
              <a:spcAft>
                <a:spcPts val="1800"/>
              </a:spcAft>
            </a:pPr>
            <a:r>
              <a:rPr lang="ru-RU" sz="2800" dirty="0" smtClean="0"/>
              <a:t>Определение набора таблиц исходя из </a:t>
            </a:r>
            <a:r>
              <a:rPr lang="en-US" sz="2800" dirty="0" smtClean="0"/>
              <a:t>ER-</a:t>
            </a:r>
            <a:r>
              <a:rPr lang="ru-RU" sz="2800" dirty="0" smtClean="0"/>
              <a:t>диаграммы БД</a:t>
            </a:r>
          </a:p>
          <a:p>
            <a:pPr>
              <a:spcAft>
                <a:spcPts val="1800"/>
              </a:spcAft>
            </a:pPr>
            <a:r>
              <a:rPr lang="ru-RU" sz="2800" dirty="0" smtClean="0"/>
              <a:t>Определение ограничений целостности</a:t>
            </a:r>
          </a:p>
          <a:p>
            <a:pPr>
              <a:spcAft>
                <a:spcPts val="1800"/>
              </a:spcAft>
            </a:pPr>
            <a:r>
              <a:rPr lang="ru-RU" sz="2800" dirty="0" smtClean="0"/>
              <a:t>Нормализация таблиц</a:t>
            </a:r>
          </a:p>
          <a:p>
            <a:pPr>
              <a:spcAft>
                <a:spcPts val="1800"/>
              </a:spcAft>
            </a:pPr>
            <a:r>
              <a:rPr lang="ru-RU" sz="2800" dirty="0" smtClean="0"/>
              <a:t>Проверка ЛМ на предмет выполнения транзакций, предусмотренных пользователями</a:t>
            </a:r>
          </a:p>
          <a:p>
            <a:pPr>
              <a:spcAft>
                <a:spcPts val="1800"/>
              </a:spcAft>
            </a:pPr>
            <a:r>
              <a:rPr lang="ru-RU" sz="2800" dirty="0" smtClean="0"/>
              <a:t>Окончательный вариант ЛМ, согласование с пользователями</a:t>
            </a:r>
          </a:p>
          <a:p>
            <a:pPr>
              <a:spcAft>
                <a:spcPts val="1800"/>
              </a:spcAft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5068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856" y="836712"/>
            <a:ext cx="7829576" cy="129530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000" b="1" cap="none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Физическое проектирование</a:t>
            </a:r>
            <a:endParaRPr lang="ru-RU" sz="4000" b="1" cap="none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30856" y="2314580"/>
            <a:ext cx="7829576" cy="19065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lvl="0" indent="0">
              <a:spcAft>
                <a:spcPts val="1800"/>
              </a:spcAft>
              <a:buNone/>
            </a:pPr>
            <a:r>
              <a:rPr lang="ru-RU" sz="2800" b="1" dirty="0" smtClean="0">
                <a:solidFill>
                  <a:srgbClr val="FF0000"/>
                </a:solidFill>
              </a:rPr>
              <a:t>Физическое проектирование БД </a:t>
            </a:r>
            <a:r>
              <a:rPr lang="ru-RU" sz="2800" dirty="0" smtClean="0"/>
              <a:t>– это разработка структуры БД с учетом специфики выбранной СУБД</a:t>
            </a:r>
            <a:endParaRPr lang="ru-RU" sz="2800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630856" y="4365104"/>
            <a:ext cx="7829576" cy="19065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800"/>
              </a:spcAft>
              <a:buFont typeface="Arial" pitchFamily="34" charset="0"/>
              <a:buNone/>
            </a:pPr>
            <a:r>
              <a:rPr lang="ru-RU" sz="2800" b="1" dirty="0" smtClean="0">
                <a:solidFill>
                  <a:srgbClr val="FF0000"/>
                </a:solidFill>
              </a:rPr>
              <a:t>Цель этапа физического проектирования БД </a:t>
            </a:r>
            <a:r>
              <a:rPr lang="ru-RU" sz="2800" dirty="0" smtClean="0"/>
              <a:t>– описание реализации БД, размещаемой во внешней памяти ЭВМ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6681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6854" y="488952"/>
            <a:ext cx="7859216" cy="121185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b="1" cap="none" dirty="0" smtClean="0">
                <a:solidFill>
                  <a:schemeClr val="tx1"/>
                </a:solidFill>
              </a:rPr>
              <a:t>Специфика СУБД включает в себя:</a:t>
            </a:r>
            <a:endParaRPr lang="ru-RU" sz="3600" b="1" cap="none" dirty="0" smtClean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44050" y="1785926"/>
            <a:ext cx="7888390" cy="450059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Ограничения на именование объектов БД;</a:t>
            </a:r>
            <a:endParaRPr lang="ru-RU" sz="3200" dirty="0" smtClean="0">
              <a:solidFill>
                <a:schemeClr val="tx1"/>
              </a:solidFill>
            </a:endParaRPr>
          </a:p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Определение ограничений целостности;</a:t>
            </a:r>
            <a:endParaRPr lang="ru-RU" sz="3200" dirty="0" smtClean="0">
              <a:solidFill>
                <a:schemeClr val="tx1"/>
              </a:solidFill>
            </a:endParaRPr>
          </a:p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Ограничения на типы данных;</a:t>
            </a:r>
            <a:endParaRPr lang="ru-RU" sz="3200" dirty="0" smtClean="0">
              <a:solidFill>
                <a:schemeClr val="tx1"/>
              </a:solidFill>
            </a:endParaRPr>
          </a:p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Выбор решений, связанных с физической средой хранения данных;</a:t>
            </a:r>
            <a:endParaRPr lang="ru-RU" sz="3200" dirty="0" smtClean="0">
              <a:solidFill>
                <a:schemeClr val="tx1"/>
              </a:solidFill>
            </a:endParaRPr>
          </a:p>
          <a:p>
            <a:r>
              <a:rPr lang="ru-RU" sz="3200" dirty="0" smtClean="0">
                <a:solidFill>
                  <a:schemeClr val="tx1"/>
                </a:solidFill>
              </a:rPr>
              <a:t>Создание индексов;</a:t>
            </a:r>
            <a:endParaRPr lang="ru-RU" sz="3200" dirty="0" smtClean="0">
              <a:solidFill>
                <a:schemeClr val="tx1"/>
              </a:solidFill>
            </a:endParaRPr>
          </a:p>
          <a:p>
            <a:pPr lvl="0"/>
            <a:r>
              <a:rPr lang="ru-RU" sz="3200" dirty="0">
                <a:solidFill>
                  <a:schemeClr val="tx1"/>
                </a:solidFill>
              </a:rPr>
              <a:t>и</a:t>
            </a:r>
            <a:r>
              <a:rPr lang="ru-RU" sz="3200" dirty="0" smtClean="0">
                <a:solidFill>
                  <a:schemeClr val="tx1"/>
                </a:solidFill>
              </a:rPr>
              <a:t> т.д.</a:t>
            </a:r>
            <a:endParaRPr lang="ru-RU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859216" cy="121185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b="1" cap="none" dirty="0" smtClean="0">
                <a:solidFill>
                  <a:schemeClr val="tx1"/>
                </a:solidFill>
              </a:rPr>
              <a:t>На этапе физического проектирования:</a:t>
            </a:r>
            <a:endParaRPr lang="ru-RU" sz="3600" b="1" cap="none" dirty="0" smtClean="0">
              <a:solidFill>
                <a:schemeClr val="tx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44050" y="1556792"/>
            <a:ext cx="7888390" cy="489654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Выявляются транзакции (наиболее важные из них);</a:t>
            </a:r>
            <a:endParaRPr lang="ru-RU" sz="3200" dirty="0" smtClean="0">
              <a:solidFill>
                <a:schemeClr val="tx1"/>
              </a:solidFill>
            </a:endParaRPr>
          </a:p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Анализируется пропускная способность транзакций и время ответа;</a:t>
            </a:r>
            <a:endParaRPr lang="ru-RU" sz="3200" dirty="0" smtClean="0">
              <a:solidFill>
                <a:schemeClr val="tx1"/>
              </a:solidFill>
            </a:endParaRPr>
          </a:p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Определение индексов;</a:t>
            </a:r>
            <a:endParaRPr lang="ru-RU" sz="3200" dirty="0" smtClean="0">
              <a:solidFill>
                <a:schemeClr val="tx1"/>
              </a:solidFill>
            </a:endParaRPr>
          </a:p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Выбор решений, связанных с физической средой хранения данных;</a:t>
            </a:r>
            <a:endParaRPr lang="ru-RU" sz="3200" dirty="0" smtClean="0">
              <a:solidFill>
                <a:schemeClr val="tx1"/>
              </a:solidFill>
            </a:endParaRPr>
          </a:p>
          <a:p>
            <a:r>
              <a:rPr lang="ru-RU" sz="3200" dirty="0" smtClean="0">
                <a:solidFill>
                  <a:schemeClr val="tx1"/>
                </a:solidFill>
              </a:rPr>
              <a:t>Создание индексов;</a:t>
            </a:r>
            <a:endParaRPr lang="ru-RU" sz="3200" dirty="0" smtClean="0">
              <a:solidFill>
                <a:schemeClr val="tx1"/>
              </a:solidFill>
            </a:endParaRPr>
          </a:p>
          <a:p>
            <a:pPr lvl="0"/>
            <a:r>
              <a:rPr lang="ru-RU" sz="3200" dirty="0" smtClean="0">
                <a:solidFill>
                  <a:schemeClr val="tx1"/>
                </a:solidFill>
              </a:rPr>
              <a:t>Оценка дискового объема памяти;</a:t>
            </a:r>
          </a:p>
          <a:p>
            <a:pPr lvl="0"/>
            <a:r>
              <a:rPr lang="ru-RU" sz="3200" dirty="0" smtClean="0">
                <a:solidFill>
                  <a:schemeClr val="tx1"/>
                </a:solidFill>
              </a:rPr>
              <a:t>Разработка стратегии и механизмов защиты БД.</a:t>
            </a:r>
            <a:endParaRPr lang="ru-RU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36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1" y="260648"/>
            <a:ext cx="8201025" cy="121185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b="1" cap="none" dirty="0" smtClean="0">
                <a:solidFill>
                  <a:schemeClr val="tx1"/>
                </a:solidFill>
              </a:rPr>
              <a:t>Пример логической модели БД</a:t>
            </a:r>
            <a:r>
              <a:rPr lang="ru-RU" sz="3600" b="1" dirty="0" smtClean="0">
                <a:solidFill>
                  <a:schemeClr val="tx1"/>
                </a:solidFill>
              </a:rPr>
              <a:t>, разработанной в </a:t>
            </a:r>
            <a:r>
              <a:rPr lang="en-US" sz="3600" b="1" dirty="0" err="1" smtClean="0">
                <a:solidFill>
                  <a:schemeClr val="tx1"/>
                </a:solidFill>
              </a:rPr>
              <a:t>ERwin</a:t>
            </a:r>
            <a:endParaRPr lang="ru-RU" sz="3600" b="1" cap="none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01025" cy="4705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23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28912"/>
            <a:ext cx="8201025" cy="121185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b="1" cap="none" dirty="0" smtClean="0">
                <a:solidFill>
                  <a:schemeClr val="tx1"/>
                </a:solidFill>
              </a:rPr>
              <a:t>Пример физической модели БД</a:t>
            </a:r>
            <a:r>
              <a:rPr lang="ru-RU" sz="3600" b="1" dirty="0" smtClean="0">
                <a:solidFill>
                  <a:schemeClr val="tx1"/>
                </a:solidFill>
              </a:rPr>
              <a:t>, разработанной в </a:t>
            </a:r>
            <a:r>
              <a:rPr lang="en-US" sz="3600" b="1" dirty="0" err="1" smtClean="0">
                <a:solidFill>
                  <a:schemeClr val="tx1"/>
                </a:solidFill>
              </a:rPr>
              <a:t>ERwin</a:t>
            </a:r>
            <a:endParaRPr lang="ru-RU" sz="3600" b="1" cap="none" dirty="0" smtClean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62828"/>
            <a:ext cx="8615761" cy="52785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410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311</TotalTime>
  <Words>216</Words>
  <Application>Microsoft Office PowerPoint</Application>
  <PresentationFormat>Экран (4:3)</PresentationFormat>
  <Paragraphs>31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Исполнительная</vt:lpstr>
      <vt:lpstr>Логическое проектирование. Физическая модель БД</vt:lpstr>
      <vt:lpstr>Логическое проектирование</vt:lpstr>
      <vt:lpstr>Процедуры логического проектирования</vt:lpstr>
      <vt:lpstr>Физическое проектирование</vt:lpstr>
      <vt:lpstr>Специфика СУБД включает в себя:</vt:lpstr>
      <vt:lpstr>На этапе физического проектирования:</vt:lpstr>
      <vt:lpstr>Пример логической модели БД, разработанной в ERwin</vt:lpstr>
      <vt:lpstr>Пример физической модели БД, разработанной в ERwin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Концептуальное моделирование.  Понятие концептуальной модели</dc:title>
  <dc:creator>1</dc:creator>
  <cp:lastModifiedBy>Клаус Майн</cp:lastModifiedBy>
  <cp:revision>26</cp:revision>
  <dcterms:created xsi:type="dcterms:W3CDTF">2016-11-09T04:52:16Z</dcterms:created>
  <dcterms:modified xsi:type="dcterms:W3CDTF">2020-10-06T07:30:15Z</dcterms:modified>
</cp:coreProperties>
</file>